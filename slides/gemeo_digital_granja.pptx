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00000"/>
            <a:ext cx="12192000" cy="2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650000"/>
            <a:ext cx="108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6EDF7"/>
                </a:solidFill>
              </a:defRPr>
            </a:pPr>
            <a:r>
              <a:t>Gêmeo Digital de uma Granja Avícola</a:t>
            </a:r>
          </a:p>
          <a:p>
            <a:pPr>
              <a:defRPr sz="2000">
                <a:solidFill>
                  <a:srgbClr val="38BDF8"/>
                </a:solidFill>
              </a:defRPr>
            </a:pPr>
            <a:r>
              <a:t>Coordenação de múltiplos atuadores em um ambiente físico compartilhado, guiada por bem-estar animal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700000"/>
            <a:ext cx="10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AA0C0"/>
                </a:solidFill>
              </a:defRPr>
            </a:pPr>
            <a:r>
              <a:t>🐔  GÊMEO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5200000"/>
            <a:ext cx="10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AA0C0"/>
                </a:solidFill>
              </a:defRPr>
            </a:pPr>
            <a:r>
              <a:t>Disciplina de Gêmeos Digitais — UFG   |   Equipe: Daniel Rios, Igor G. M. Mazo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1 · Contextualização do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Na avicultura intensiva, o AMBIENTE do galpão determina diretamente bem-estar, sanidade e produtividade das aves.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Três variáveis ambientais são críticas e precisam ser controladas ao mesmo tempo: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LUZ (lux) — regula consumo de ração, descanso e comportamento.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CLIMA (temperatura + umidade → ITU) — conforto térmico; pintinhos exigem ~32 °C.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GASES (amônia, NH₃) — acima de 25 ppm causa lesão respiratória e mortalidade.</a:t>
            </a:r>
          </a:p>
          <a:p>
            <a:pPr>
              <a:spcAft>
                <a:spcPts val="700"/>
              </a:spcAft>
              <a:defRPr sz="2000" b="1">
                <a:solidFill>
                  <a:srgbClr val="38BDF8"/>
                </a:solidFill>
              </a:defRPr>
            </a:pPr>
            <a:r>
              <a:t>●  O problema central: esses eixos NÃO são independentes — os atuadores compartilham o mesmo ar.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EF4444"/>
                </a:solidFill>
              </a:defRPr>
            </a:pPr>
            <a:r>
              <a:t>–  Acionar o exaustor para limpar amônia RESFRIA o galpão e pode matar pintinhos de frio.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350000"/>
            <a:ext cx="11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8AA0C0"/>
                </a:solidFill>
              </a:defRPr>
            </a:pPr>
            <a:r>
              <a:t>Um controle ingênuo (três malhas isoladas) pode 'consertar' um eixo e destruir outro.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2 · Pergunta de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E6EDF7"/>
                </a:solidFill>
              </a:defRPr>
            </a:pPr>
            <a:r>
              <a:t>Como um gêmeo digital REATIVO pode coordenar múltiplos atuadores que</a:t>
            </a:r>
          </a:p>
          <a:p>
            <a:pPr>
              <a:spcAft>
                <a:spcPts val="700"/>
              </a:spcAft>
              <a:defRPr sz="1800" b="0">
                <a:solidFill>
                  <a:srgbClr val="38BDF8"/>
                </a:solidFill>
              </a:defRPr>
            </a:pPr>
            <a:r>
              <a:t>compartilham o mesmo ambiente físico de uma granja — resolvendo os</a:t>
            </a:r>
          </a:p>
          <a:p>
            <a:pPr>
              <a:spcAft>
                <a:spcPts val="700"/>
              </a:spcAft>
              <a:defRPr sz="1800" b="0">
                <a:solidFill>
                  <a:srgbClr val="38BDF8"/>
                </a:solidFill>
              </a:defRPr>
            </a:pPr>
            <a:r>
              <a:t>conflitos entre os eixos luz, clima e gases — SEM comprometer o</a:t>
            </a:r>
          </a:p>
          <a:p>
            <a:pPr>
              <a:spcAft>
                <a:spcPts val="700"/>
              </a:spcAft>
              <a:defRPr sz="1800" b="0">
                <a:solidFill>
                  <a:srgbClr val="38BDF8"/>
                </a:solidFill>
              </a:defRPr>
            </a:pPr>
            <a:r>
              <a:t>bem-estar animal?</a:t>
            </a:r>
          </a:p>
          <a:p>
            <a:pPr>
              <a:spcAft>
                <a:spcPts val="700"/>
              </a:spcAft>
              <a:defRPr sz="1800" b="0">
                <a:solidFill>
                  <a:srgbClr val="8AA0C0"/>
                </a:solidFill>
              </a:defRPr>
            </a:pP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Sub-perguntas: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Como representar os efeitos cruzados de um atuador sobre eixos que não são o seu?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Que critério usar para arbitrar quando dois eixos pedem ações opostas?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3 · Objetivos do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Objetivo geral: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Construir um gêmeo digital reativo da granja, com os três eixos integrados sobre um ambiente físico compartilhado e um supervisor que arbitra conflitos por bem-estar animal.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Objetivos específicos: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Replicar fielmente, em Python, o firmware dos sensores/atuadores (ESP32/Wokwi).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Modelar a física do galpão capturando os acoplamentos entre atuadores.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Implementar a hierarquia de decisão: térmico letal &gt; amônia tóxica &gt; luz.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Visualizar tudo em um dashboard de gêmeo digital (certo/errado + mitigação).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Validar por cenários cíclicos e por uma suíte de testes automatizados.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4 · Motivação e relevância da proposta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A avicultura é central na produção de proteína; pequenas falhas ambientais geram grandes perdas.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Amônia e estresse térmico estão entre as principais causas de queda de desempenho e mortalidade.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Sistemas comerciais reais já têm exaustores, aquecedores, cortinas e iluminação — mas frequentemente controlados de forma isolada.</a:t>
            </a:r>
          </a:p>
          <a:p>
            <a:pPr>
              <a:spcAft>
                <a:spcPts val="700"/>
              </a:spcAft>
              <a:defRPr sz="2000" b="1">
                <a:solidFill>
                  <a:srgbClr val="38BDF8"/>
                </a:solidFill>
              </a:defRPr>
            </a:pPr>
            <a:r>
              <a:t>●  Um gêmeo digital permite RACIOCINAR sobre o efeito sistêmico antes de atuar: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testar 'e se?' sem risco às aves;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explicitar conflitos que um operador humano resolveria por intuição;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servir de base para evolução preditiva (manejo proativo).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5 · Fundamentação teórica e trabalhos relacionados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Gêmeo digital: réplica virtual de um sistema físico, alimentada por dados, usada para monitorar e decidir.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Bases zootécnicas adotadas (limiares):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NH₃: &lt; 10 ppm saudável | 20–25 limite regulatório | &gt; 25 lesão respiratória.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ITU (índice de Thom): ITU = T + 0,36·Tpo + 41,5; &lt; 74 conforto, &gt; 78 crítico.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Curva de aquecimento do pinto: ~32 °C na chegada, reduzindo até ~21 °C.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Iluminância: alta na chegada (estímulo ao consumo), baixa no crescimento.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Controle: controlador proporcional (P) com banda morta; IoT/MQTT em aviários.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Trabalhos relacionados: automação de aviários climatizados, sensoriamento IoT e índices de conforto térmico animal.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350000"/>
            <a:ext cx="11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8AA0C0"/>
                </a:solidFill>
              </a:defRPr>
            </a:pPr>
            <a:r>
              <a:t>Refs.: Orffa (2023); Precision Poultry Farming/UGA; Frontiers Vet. Sci. (2020); curva de aquecimento Cobb/Ross.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6 · Metodologia adotada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Abordagem incremental, partindo do que já existia: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Eixo GASES (branch main) — MQ-135 → exaustor, via MQTT.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Eixo LUZ (branch main_v2) — BH1750 → lâmpada, arquitetura modular (Bus/Controller).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Eixo CLIMA (novos projetos Wokwi) — DHT22 → ITU → aquecedor/cortina/alerta.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Passos: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1) Replicar os firmwares em Python (fórmulas e ruído idênticos).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2) Unificar os três eixos sobre UM ambiente físico compartilhado.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3) Inserir o supervisor de conflitos guiado por bem-estar.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4) Validar por cenários cíclicos + testes automatizados (pytest).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7 · Arquitetura da solução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0000" y="1350000"/>
            <a:ext cx="10900000" cy="470000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0000" tIns="200000"/>
          <a:lstStyle/>
          <a:p>
            <a:pPr algn="ctr">
              <a:defRPr sz="1500">
                <a:solidFill>
                  <a:srgbClr val="E6EDF7"/>
                </a:solidFill>
                <a:latin typeface="Consolas"/>
              </a:defRPr>
            </a:pPr>
            <a:r>
              <a:t>        ┌─────────────────── AMBIENTE FÍSICO COMPARTILHADO ───────────────────┐</a:t>
            </a:r>
          </a:p>
          <a:p>
            <a:pPr>
              <a:defRPr sz="1500">
                <a:solidFill>
                  <a:srgbClr val="E6EDF7"/>
                </a:solidFill>
                <a:latin typeface="Consolas"/>
              </a:defRPr>
            </a:pPr>
            <a:r>
              <a:t>        │   temperatura · umidade · NH₃ · luz natural   (modelo dinâmico)      │</a:t>
            </a:r>
          </a:p>
          <a:p>
            <a:pPr>
              <a:defRPr sz="1500">
                <a:solidFill>
                  <a:srgbClr val="E6EDF7"/>
                </a:solidFill>
                <a:latin typeface="Consolas"/>
              </a:defRPr>
            </a:pPr>
            <a:r>
              <a:t>        └──────▲───────────────────────────────────────────────────▲──────────┘</a:t>
            </a:r>
          </a:p>
          <a:p>
            <a:pPr>
              <a:defRPr sz="1500">
                <a:solidFill>
                  <a:srgbClr val="E6EDF7"/>
                </a:solidFill>
                <a:latin typeface="Consolas"/>
              </a:defRPr>
            </a:pPr>
            <a:r>
              <a:t>               │ lê                                       aplica   │</a:t>
            </a:r>
          </a:p>
          <a:p>
            <a:pPr>
              <a:defRPr sz="1500">
                <a:solidFill>
                  <a:srgbClr val="E6EDF7"/>
                </a:solidFill>
                <a:latin typeface="Consolas"/>
              </a:defRPr>
            </a:pPr>
            <a:r>
              <a:t>        ┌──────┴───────┐     ┌───────────────┐     ┌───────────────┴─────────┐</a:t>
            </a:r>
          </a:p>
          <a:p>
            <a:pPr>
              <a:defRPr sz="1500">
                <a:solidFill>
                  <a:srgbClr val="E6EDF7"/>
                </a:solidFill>
                <a:latin typeface="Consolas"/>
              </a:defRPr>
            </a:pPr>
            <a:r>
              <a:t>        │  SENSORES    │ ──► │ CONTROLADORES │ ──► │      SUPERVISOR          │</a:t>
            </a:r>
          </a:p>
          <a:p>
            <a:pPr>
              <a:defRPr sz="1500">
                <a:solidFill>
                  <a:srgbClr val="E6EDF7"/>
                </a:solidFill>
                <a:latin typeface="Consolas"/>
              </a:defRPr>
            </a:pPr>
            <a:r>
              <a:t>        │ lux·clima·gas│     │ 1 por eixo (P)│     │ arbitra conflitos por    │</a:t>
            </a:r>
          </a:p>
          <a:p>
            <a:pPr>
              <a:defRPr sz="1500">
                <a:solidFill>
                  <a:srgbClr val="E6EDF7"/>
                </a:solidFill>
                <a:latin typeface="Consolas"/>
              </a:defRPr>
            </a:pPr>
            <a:r>
              <a:t>        └──────────────┘     └───────────────┘     │ BEM-ESTAR e comanda os   │</a:t>
            </a:r>
          </a:p>
          <a:p>
            <a:pPr>
              <a:defRPr sz="1500">
                <a:solidFill>
                  <a:srgbClr val="E6EDF7"/>
                </a:solidFill>
                <a:latin typeface="Consolas"/>
              </a:defRPr>
            </a:pPr>
            <a:r>
              <a:t>                                                   │ atuadores compartilhados │</a:t>
            </a:r>
          </a:p>
          <a:p>
            <a:pPr>
              <a:defRPr sz="1500">
                <a:solidFill>
                  <a:srgbClr val="E6EDF7"/>
                </a:solidFill>
                <a:latin typeface="Consolas"/>
              </a:defRPr>
            </a:pPr>
            <a:r>
              <a:t>                                                   └──────────────────────────┘</a:t>
            </a:r>
          </a:p>
          <a:p>
            <a:pPr>
              <a:defRPr sz="1500">
                <a:solidFill>
                  <a:srgbClr val="E6EDF7"/>
                </a:solidFill>
                <a:latin typeface="Consolas"/>
              </a:defRPr>
            </a:pPr>
            <a:r>
              <a:t>                                                            │</a:t>
            </a:r>
          </a:p>
          <a:p>
            <a:pPr>
              <a:defRPr sz="1500">
                <a:solidFill>
                  <a:srgbClr val="E6EDF7"/>
                </a:solidFill>
                <a:latin typeface="Consolas"/>
              </a:defRPr>
            </a:pPr>
            <a:r>
              <a:t>      ATUADORES:  🌀 exaustor (gases+clima)  🔥 aquecedor  💡 lâmpada  🪟 cortina</a:t>
            </a:r>
          </a:p>
          <a:p>
            <a:pPr>
              <a:defRPr sz="1500">
                <a:solidFill>
                  <a:srgbClr val="E6EDF7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E6EDF7"/>
                </a:solidFill>
                <a:latin typeface="Consolas"/>
              </a:defRPr>
            </a:pPr>
            <a:r>
              <a:t>   ciclo fechado:  ambiente → sensores → controladores → supervisor → atuadores → ambiente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300000"/>
            <a:ext cx="11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8AA0C0"/>
                </a:solidFill>
              </a:defRPr>
            </a:pPr>
            <a:r>
              <a:t>O supervisor é o que diferencia o gêmeo de três malhas isoladas: ele enxerga o sistema inteiro.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8 · O núcleo do problema: efeitos cruzados dos atuadores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F4444"/>
                </a:solidFill>
              </a:defRPr>
            </a:pPr>
            <a:r>
              <a:t>●  Exaustor (resolve GASES) → ↓ temperatura e ↓ umidade — pode gelar pintinhos.</a:t>
            </a:r>
          </a:p>
          <a:p>
            <a:pPr>
              <a:spcAft>
                <a:spcPts val="700"/>
              </a:spcAft>
              <a:defRPr sz="2000" b="1">
                <a:solidFill>
                  <a:srgbClr val="F97316"/>
                </a:solidFill>
              </a:defRPr>
            </a:pPr>
            <a:r>
              <a:t>●  Aquecedor (resolve FRIO) → ↑ volatilização de NH₃ da cama — piora os GASES.</a:t>
            </a:r>
          </a:p>
          <a:p>
            <a:pPr>
              <a:spcAft>
                <a:spcPts val="700"/>
              </a:spcAft>
              <a:defRPr sz="2000" b="1">
                <a:solidFill>
                  <a:srgbClr val="EAB308"/>
                </a:solidFill>
              </a:defRPr>
            </a:pPr>
            <a:r>
              <a:t>●  Cortina/ventilação (resolve CALOR) → mesmo efeito do exaustor: resfria e limpa ar.</a:t>
            </a:r>
          </a:p>
          <a:p>
            <a:pPr>
              <a:spcAft>
                <a:spcPts val="700"/>
              </a:spcAft>
              <a:defRPr sz="2000" b="1">
                <a:solidFill>
                  <a:srgbClr val="8AA0C0"/>
                </a:solidFill>
              </a:defRPr>
            </a:pPr>
            <a:r>
              <a:t>●  Lâmpada (resolve LUZ) → adiciona calor ao galpão (efeito menor, relevante em incandescente).</a:t>
            </a:r>
          </a:p>
          <a:p>
            <a:pPr>
              <a:spcAft>
                <a:spcPts val="700"/>
              </a:spcAft>
              <a:defRPr sz="1800" b="0">
                <a:solidFill>
                  <a:srgbClr val="8AA0C0"/>
                </a:solidFill>
              </a:defRPr>
            </a:pPr>
          </a:p>
          <a:p>
            <a:pPr>
              <a:spcAft>
                <a:spcPts val="700"/>
              </a:spcAft>
              <a:defRPr sz="2000" b="1">
                <a:solidFill>
                  <a:srgbClr val="38BDF8"/>
                </a:solidFill>
              </a:defRPr>
            </a:pPr>
            <a:r>
              <a:t>●  Consequência: o EXAUSTOR é um recurso ÚNICO disputado por gases e clima;</a:t>
            </a:r>
          </a:p>
          <a:p>
            <a:pPr>
              <a:spcAft>
                <a:spcPts val="700"/>
              </a:spcAft>
              <a:defRPr sz="2000" b="1">
                <a:solidFill>
                  <a:srgbClr val="38BDF8"/>
                </a:solidFill>
              </a:defRPr>
            </a:pPr>
            <a:r>
              <a:t>●  e aquecedor × exaustor são fisicamente OPOSTOS. Alguém precisa arbitrar.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9 · Supervisor: hierarquia de bem-estar animal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Quando há conflito, a decisão segue a gravidade do risco às aves: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EF4444"/>
                </a:solidFill>
              </a:defRPr>
            </a:pPr>
            <a:r>
              <a:t>–  1º  Risco térmico letal — frio em pintinhos / calor extremo.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F97316"/>
                </a:solidFill>
              </a:defRPr>
            </a:pPr>
            <a:r>
              <a:t>–  2º  Amônia tóxica — NH₃ ≥ 25 ppm.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EAB308"/>
                </a:solidFill>
              </a:defRPr>
            </a:pPr>
            <a:r>
              <a:t>–  3º  Conforto lumínico — luz.</a:t>
            </a:r>
          </a:p>
          <a:p>
            <a:pPr>
              <a:spcAft>
                <a:spcPts val="700"/>
              </a:spcAft>
              <a:defRPr sz="2000" b="1">
                <a:solidFill>
                  <a:srgbClr val="38BDF8"/>
                </a:solidFill>
              </a:defRPr>
            </a:pPr>
            <a:r>
              <a:t>●  Regra de ouro: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NUNCA resfriar além do 'teto seguro' da fase para combater amônia.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Em vez disso: ventila o tolerável e COMPENSA com aquecedor, registrando o conflito.</a:t>
            </a:r>
          </a:p>
          <a:p>
            <a:pPr>
              <a:spcAft>
                <a:spcPts val="700"/>
              </a:spcAft>
              <a:defRPr sz="2000" b="1">
                <a:solidFill>
                  <a:srgbClr val="22C55E"/>
                </a:solidFill>
              </a:defRPr>
            </a:pPr>
            <a:r>
              <a:t>●  Sinergia: no calor, ventilar resfria E remove NH₃ — um atuador resolve dois eixos.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10 · Hardware, software, ferramentas e tecnologias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Hardware (referência, simulado no Wokwi):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ESP32 DevKit; BH1750 (lux); DHT22 (temp/umid); MQ-135 (NH₃); LEDs; servo (cortina).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Software do gêmeo digital: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Python 3 (apenas biblioteca padrão) — sem dependências para rodar.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Servidor HTTP + Server-Sent Events (SSE) embutido; dashboard em HTML/CSS/Canvas/SVG.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Ferramentas: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Wokwi (firmware/diagramas); MQTT/HiveMQ (opcional, p/ hardware real); pytest (testes); Git/VS Code.</a:t>
            </a:r>
          </a:p>
          <a:p>
            <a:pPr>
              <a:spcAft>
                <a:spcPts val="700"/>
              </a:spcAft>
              <a:defRPr sz="2000" b="1">
                <a:solidFill>
                  <a:srgbClr val="38BDF8"/>
                </a:solidFill>
              </a:defRPr>
            </a:pPr>
            <a:r>
              <a:t>●  Decisão de projeto: rodar 100% offline (sem internet, sem broker) — confiabilidade na banca.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11 · Etapas de desenvolvimento e implementação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Levantamento e leitura dos três firmwares (gases, luz, clima).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Réplica em Python: fórmulas de ITU/ponto de orvalho e ruído gaussiano idênticos ao sketch.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Modelo físico do galpão (EDOs de 1ª ordem) com os acoplamentos entre atuadores.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Controladores P por eixo + supervisor de arbitragem.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Motor de cenários cíclicos + dashboard de gêmeo digital (SSE).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Validação: 22 testes automatizados (física, controladores e, sobretudo, conflitos).</a:t>
            </a:r>
          </a:p>
          <a:p>
            <a:pPr>
              <a:spcAft>
                <a:spcPts val="700"/>
              </a:spcAft>
              <a:defRPr sz="2000" b="1">
                <a:solidFill>
                  <a:srgbClr val="38BDF8"/>
                </a:solidFill>
              </a:defRPr>
            </a:pPr>
            <a:r>
              <a:t>●  Correções feitas durante o caminho (ver 'Análise crítica').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12 · Base de dados utilizada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38BDF8"/>
                </a:solidFill>
              </a:defRPr>
            </a:pPr>
            <a:r>
              <a:t>●  Este projeto NÃO utiliza banco de dados.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Justificativa de projeto: o gêmeo é REATIVO ao estado instantâneo do ambiente —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decide a cada ciclo a partir das leituras atuais, sem necessidade de histórico persistido.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Mantemos apenas uma janela curta em memória (para os gráficos ao vivo).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Persistir séries temporais e treinar modelos preditivos é, conscientemente,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EAB308"/>
                </a:solidFill>
              </a:defRPr>
            </a:pPr>
            <a:r>
              <a:t>–  um TRABALHO FUTURO (ver slide de Trabalhos Futuros).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13 · Experimentos realizados (cenários cíclicos)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O motor de cenários percorre situações que estressam cada eixo e os conflitos: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22C55E"/>
                </a:solidFill>
              </a:defRPr>
            </a:pPr>
            <a:r>
              <a:t>–  Operação normal — clima ameno, cama limpa.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EAB308"/>
                </a:solidFill>
              </a:defRPr>
            </a:pPr>
            <a:r>
              <a:t>–  Acúmulo de amônia — cama saturada eleva NH₃; exaustor reage.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F97316"/>
                </a:solidFill>
              </a:defRPr>
            </a:pPr>
            <a:r>
              <a:t>–  Onda de calor — ITU sobe; ventilação máxima + sinergia com gases.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38BDF8"/>
                </a:solidFill>
              </a:defRPr>
            </a:pPr>
            <a:r>
              <a:t>–  Noite fria — temperatura cai; aquecedor protege as aves.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EF4444"/>
                </a:solidFill>
              </a:defRPr>
            </a:pPr>
            <a:r>
              <a:t>–  Conflito crítico: frio + amônia tóxica — o supervisor arbitra para não matar de frio.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Repetidos para as 3 fases de vida (chegada, crescimento, final).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14 · Métricas de avaliação adotadas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Como o sistema é reativo (sem ML), as métricas medem QUALIDADE DA DECISÃO: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Violações do teto de ventilação seguro nos cenários de frio — meta: ZERO.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Conflitos detectados × conflitos resolvidos sem prejudicar as aves.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% de tempo de cada eixo dentro da sua zona de conforto.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Estabilidade (ausência de oscilação liga/desliga dos atuadores).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Cobertura de testes: nº de casos automatizados que passam.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15 · Resultados obtidos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2C55E"/>
                </a:solidFill>
              </a:defRPr>
            </a:pPr>
            <a:r>
              <a:t>●  Suíte de testes: 22/22 casos passam (física, controladores e arbitragem).</a:t>
            </a:r>
          </a:p>
          <a:p>
            <a:pPr>
              <a:spcAft>
                <a:spcPts val="700"/>
              </a:spcAft>
              <a:defRPr sz="2000" b="1">
                <a:solidFill>
                  <a:srgbClr val="22C55E"/>
                </a:solidFill>
              </a:defRPr>
            </a:pPr>
            <a:r>
              <a:t>●  Em TODOS os cenários de frio, o exaustor respeitou o teto seguro da fase — 0 violações.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Conflito frio×amônia: ventilação limitada + aquecedor elevado em compensação, com o conflito explicitado no dashboard.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Calor + amônia: um único atuador (ventilação) resolveu os dois eixos (sinergia detectada).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Pintinhos (fase 1) mantidos estáveis em ~32 °C, sem resfriamento indevido.</a:t>
            </a:r>
          </a:p>
          <a:p>
            <a:pPr>
              <a:spcAft>
                <a:spcPts val="700"/>
              </a:spcAft>
              <a:defRPr sz="2000" b="1">
                <a:solidFill>
                  <a:srgbClr val="38BDF8"/>
                </a:solidFill>
              </a:defRPr>
            </a:pPr>
            <a:r>
              <a:t>●  Dashboard mostra, em tempo real, o que está certo/errado e o mecanismo de mitigação ativo.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16 · Análise crítica dos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AB308"/>
                </a:solidFill>
              </a:defRPr>
            </a:pPr>
            <a:r>
              <a:t>●  A hierarquia evita matar de frio, MAS aceita NH₃ elevado por mais tempo na fase 1 —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é um trade-off real, não uma solução mágica: ventilação sozinha não resolve amônia em pintinhos.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Isso revela um limite físico: na chegada, o controle de amônia depende de MANEJO DE CAMA,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38BDF8"/>
                </a:solidFill>
              </a:defRPr>
            </a:pPr>
            <a:r>
              <a:t>–  não de ventilação — algo que o gêmeo deixou evidente.</a:t>
            </a:r>
          </a:p>
          <a:p>
            <a:pPr>
              <a:spcAft>
                <a:spcPts val="700"/>
              </a:spcAft>
              <a:defRPr sz="2000" b="1">
                <a:solidFill>
                  <a:srgbClr val="EF4444"/>
                </a:solidFill>
              </a:defRPr>
            </a:pPr>
            <a:r>
              <a:t>●  O ITU (escala 74/78) NÃO se aplica a pintinhos: a 32 °C o índice já daria 'crítico',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8AA0C0"/>
                </a:solidFill>
              </a:defRPr>
            </a:pPr>
            <a:r>
              <a:t>–  o que faria o sistema resfriar a própria temperatura que o pinto precisa. Corrigimos isso.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O modelo físico é simplificado (1ª ordem, constantes calibradas, não validadas com dados reais).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17 · Comparação: objetivos propostos × alcançados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2C55E"/>
                </a:solidFill>
              </a:defRPr>
            </a:pPr>
            <a:r>
              <a:t>●  Replicar o firmware em Python — ALCANÇADO (fórmulas e ruído idênticos).</a:t>
            </a:r>
          </a:p>
          <a:p>
            <a:pPr>
              <a:spcAft>
                <a:spcPts val="700"/>
              </a:spcAft>
              <a:defRPr sz="2000" b="1">
                <a:solidFill>
                  <a:srgbClr val="22C55E"/>
                </a:solidFill>
              </a:defRPr>
            </a:pPr>
            <a:r>
              <a:t>●  Modelar o ambiente compartilhado com acoplamentos — ALCANÇADO.</a:t>
            </a:r>
          </a:p>
          <a:p>
            <a:pPr>
              <a:spcAft>
                <a:spcPts val="700"/>
              </a:spcAft>
              <a:defRPr sz="2000" b="1">
                <a:solidFill>
                  <a:srgbClr val="22C55E"/>
                </a:solidFill>
              </a:defRPr>
            </a:pPr>
            <a:r>
              <a:t>●  Supervisor por bem-estar (térmico&gt;amônia&gt;luz) — ALCANÇADO e testado.</a:t>
            </a:r>
          </a:p>
          <a:p>
            <a:pPr>
              <a:spcAft>
                <a:spcPts val="700"/>
              </a:spcAft>
              <a:defRPr sz="2000" b="1">
                <a:solidFill>
                  <a:srgbClr val="22C55E"/>
                </a:solidFill>
              </a:defRPr>
            </a:pPr>
            <a:r>
              <a:t>●  Dashboard de gêmeo digital — ALCANÇADO (certo/errado + mitigação + conflitos).</a:t>
            </a:r>
          </a:p>
          <a:p>
            <a:pPr>
              <a:spcAft>
                <a:spcPts val="700"/>
              </a:spcAft>
              <a:defRPr sz="2000" b="1">
                <a:solidFill>
                  <a:srgbClr val="22C55E"/>
                </a:solidFill>
              </a:defRPr>
            </a:pPr>
            <a:r>
              <a:t>●  Validação por cenários e testes — ALCANÇADO (22 testes).</a:t>
            </a:r>
          </a:p>
          <a:p>
            <a:pPr>
              <a:spcAft>
                <a:spcPts val="700"/>
              </a:spcAft>
              <a:defRPr sz="2000" b="1">
                <a:solidFill>
                  <a:srgbClr val="EAB308"/>
                </a:solidFill>
              </a:defRPr>
            </a:pPr>
            <a:r>
              <a:t>●  Validação com DADOS REAIS — NÃO alcançado (não era objetivo; é trabalho futuro).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18 · Principais dificuldades encontradas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Acoplamento dos atuadores: perceber que o exaustor é um recurso ÚNICO disputado por dois eixos.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Conflito aquecedor × exaustor: como ventilar sem congelar — surgiu o conceito de 'teto seguro'.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ITU em pintinhos: o índice clássico contradiz a curva de aquecimento — exigiu decisão de projeto.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Calibrar as constantes da física para dinâmica visível e estável na apresentação.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Rodar 100% offline e sem dependências (substituímos WebSocket por SSE da stdlib).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19 · Limitações da solução proposta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Modelo físico simplificado e com constantes empíricas (não calibradas com sensores reais).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Sistema puramente REATIVO: não antecipa, só responde ao estado atual.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Arbitragem baseada em REGRAS/hierarquia — não é uma otimização multiobjetivo formal.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Um único galpão/zona homogênea (sem gradientes espaciais de temperatura ou gás).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Sem persistência de dados nem consideração de custo energético.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20 · Pontos positivos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2C55E"/>
                </a:solidFill>
              </a:defRPr>
            </a:pPr>
            <a:r>
              <a:t>●  Roda offline, sem internet/broker — confiável para apresentar.</a:t>
            </a:r>
          </a:p>
          <a:p>
            <a:pPr>
              <a:spcAft>
                <a:spcPts val="700"/>
              </a:spcAft>
              <a:defRPr sz="2000" b="1">
                <a:solidFill>
                  <a:srgbClr val="22C55E"/>
                </a:solidFill>
              </a:defRPr>
            </a:pPr>
            <a:r>
              <a:t>●  Arquitetura modular (sensores/controladores/supervisor/ambiente) e testada.</a:t>
            </a:r>
          </a:p>
          <a:p>
            <a:pPr>
              <a:spcAft>
                <a:spcPts val="700"/>
              </a:spcAft>
              <a:defRPr sz="2000" b="1">
                <a:solidFill>
                  <a:srgbClr val="22C55E"/>
                </a:solidFill>
              </a:defRPr>
            </a:pPr>
            <a:r>
              <a:t>●  O supervisor EXPLICA cada decisão — conflitos e sinergias ficam transparentes.</a:t>
            </a:r>
          </a:p>
          <a:p>
            <a:pPr>
              <a:spcAft>
                <a:spcPts val="700"/>
              </a:spcAft>
              <a:defRPr sz="2000" b="1">
                <a:solidFill>
                  <a:srgbClr val="22C55E"/>
                </a:solidFill>
              </a:defRPr>
            </a:pPr>
            <a:r>
              <a:t>●  Fidelidade ao firmware: mesmas fórmulas e ruído do hardware Wokwi.</a:t>
            </a:r>
          </a:p>
          <a:p>
            <a:pPr>
              <a:spcAft>
                <a:spcPts val="700"/>
              </a:spcAft>
              <a:defRPr sz="2000" b="1">
                <a:solidFill>
                  <a:srgbClr val="22C55E"/>
                </a:solidFill>
              </a:defRPr>
            </a:pPr>
            <a:r>
              <a:t>●  Dashboard didático: comunica 'o que está certo, o que está errado e o que está sendo feito'.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21 · Pontos negativos e o que poderia melhorar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AB308"/>
                </a:solidFill>
              </a:defRPr>
            </a:pPr>
            <a:r>
              <a:t>●  O modelo físico carece de validação com dados reais de um aviário.</a:t>
            </a:r>
          </a:p>
          <a:p>
            <a:pPr>
              <a:spcAft>
                <a:spcPts val="700"/>
              </a:spcAft>
              <a:defRPr sz="2000" b="1">
                <a:solidFill>
                  <a:srgbClr val="EAB308"/>
                </a:solidFill>
              </a:defRPr>
            </a:pPr>
            <a:r>
              <a:t>●  A decisão por regras poderia evoluir para otimização (energia × bem-estar).</a:t>
            </a:r>
          </a:p>
          <a:p>
            <a:pPr>
              <a:spcAft>
                <a:spcPts val="700"/>
              </a:spcAft>
              <a:defRPr sz="2000" b="1">
                <a:solidFill>
                  <a:srgbClr val="EAB308"/>
                </a:solidFill>
              </a:defRPr>
            </a:pPr>
            <a:r>
              <a:t>●  Falta persistência: não há histórico para auditoria ou aprendizado.</a:t>
            </a:r>
          </a:p>
          <a:p>
            <a:pPr>
              <a:spcAft>
                <a:spcPts val="700"/>
              </a:spcAft>
              <a:defRPr sz="2000" b="1">
                <a:solidFill>
                  <a:srgbClr val="EAB308"/>
                </a:solidFill>
              </a:defRPr>
            </a:pPr>
            <a:r>
              <a:t>●  Os ganhos dos controladores foram ajustados empiricamente, não sintonizados formalmente.</a:t>
            </a:r>
          </a:p>
          <a:p>
            <a:pPr>
              <a:spcAft>
                <a:spcPts val="700"/>
              </a:spcAft>
              <a:defRPr sz="2000" b="1">
                <a:solidFill>
                  <a:srgbClr val="EAB308"/>
                </a:solidFill>
              </a:defRPr>
            </a:pPr>
            <a:r>
              <a:t>●  O efeito cruzado luz→calor é estimado; mediria-se melhor com a lâmpada real.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22 · Trabalhos futuros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38BDF8"/>
                </a:solidFill>
              </a:defRPr>
            </a:pPr>
            <a:r>
              <a:t>●  Base de dados + análise PREDITIVA (séries temporais / ML) — sair do reativo para o proativo.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Controle preditivo por modelo (MPC) e otimização multiobjetivo (conforto × energia).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Validação e calibração com sensores reais em um aviário.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Múltiplas zonas e gradientes espaciais no galpão.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Integração ao vivo com o hardware Wokwi via MQTT (modo híbrido já previsto).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Inclusão do manejo de cama como atuador 'lento' contra a amônia.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23 · Conclusões e contribuições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Construímos um gêmeo digital reativo coeso para os três eixos da granja.</a:t>
            </a:r>
          </a:p>
          <a:p>
            <a:pPr>
              <a:spcAft>
                <a:spcPts val="700"/>
              </a:spcAft>
              <a:defRPr sz="2000" b="1">
                <a:solidFill>
                  <a:srgbClr val="38BDF8"/>
                </a:solidFill>
              </a:defRPr>
            </a:pPr>
            <a:r>
              <a:t>●  Principal contribuição: mostrar que coordenar atuadores que compartilham o ambiente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38BDF8"/>
                </a:solidFill>
              </a:defRPr>
            </a:pPr>
            <a:r>
              <a:t>–  exige um SUPERVISOR de bem-estar — três malhas isoladas seriam perigosas.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O gêmeo tornou explícitos conflitos reais (frio×amônia) e limites físicos (cama × ventilação).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Contribuição prática: ferramenta didática e base sólida para a evolução preditiva.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Aprendizado central: em sistemas acoplados, a pergunta certa não é 'como resolvo este eixo?',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22C55E"/>
                </a:solidFill>
              </a:defRPr>
            </a:pPr>
            <a:r>
              <a:t>–  mas 'como esta ação afeta TODO o ambiente e o bem-estar das aves?'.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EDF7"/>
                </a:solidFill>
              </a:defRPr>
            </a:pPr>
            <a:r>
              <a:t>Referências e 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Limiares de amônia: Orffa (2023); Precision Poultry Farming / UGA Extension.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Estresse térmico / ITU: Frontiers in Veterinary Science (2020); índice de Thom.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Curva de aquecimento: manuais de manejo Cobb / Ross (frango de corte).</a:t>
            </a:r>
          </a:p>
          <a:p>
            <a:pPr>
              <a:spcAft>
                <a:spcPts val="700"/>
              </a:spcAft>
              <a:defRPr sz="2000" b="1">
                <a:solidFill>
                  <a:srgbClr val="E6EDF7"/>
                </a:solidFill>
              </a:defRPr>
            </a:pPr>
            <a:r>
              <a:t>●  Implementação: pacote gemeo_digital/, dashboard/, hardware_wokwi/, tests/ (22 testes).</a:t>
            </a:r>
          </a:p>
          <a:p>
            <a:pPr>
              <a:spcAft>
                <a:spcPts val="700"/>
              </a:spcAft>
              <a:defRPr sz="2000" b="1">
                <a:solidFill>
                  <a:srgbClr val="38BDF8"/>
                </a:solidFill>
              </a:defRPr>
            </a:pPr>
            <a:r>
              <a:t>●  Execução: python run_twin.py  →  http://127.0.0.1:8000  (offline).</a:t>
            </a:r>
          </a:p>
          <a:p>
            <a:pPr>
              <a:spcAft>
                <a:spcPts val="700"/>
              </a:spcAft>
              <a:defRPr sz="2000" b="1">
                <a:solidFill>
                  <a:srgbClr val="22C55E"/>
                </a:solidFill>
              </a:defRPr>
            </a:pPr>
            <a:r>
              <a:t>●  Obrigado!  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